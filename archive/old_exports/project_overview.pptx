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Representation Learning for Robotic Pushing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Calibri"/>
              </a:defRPr>
            </a:pPr>
            <a:r>
              <a:t>OOD Generalization via Object-Centric &amp; Causality-Aware Encoders with CEM-MPC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Calibri"/>
              </a:defRPr>
            </a:pPr>
            <a:r>
              <a:t>Paper 1  ·  MuJoCo Simulation  ·  SO-101 Robot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How does the choice of state representation affect a learned dynamics model's</a:t>
            </a:r>
            <a:br/>
            <a:r>
              <a:t>ability to generalize to out-of-distribution (OOD) scenarios in robotic pushing?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29184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Layout 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480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Can the model handle novel obstacle configurations</a:t>
            </a:r>
            <a:br/>
            <a:r>
              <a:t>(blocking, narrow passages) not seen during training?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29184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Shape 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480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Can the model generalize to novel object shapes</a:t>
            </a:r>
            <a:br/>
            <a:r>
              <a:t>(L-shapes, crosses) trained only on T-shapes?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657600"/>
            <a:ext cx="329184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3840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Representation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48056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Do object-centric or causality-aware encoders</a:t>
            </a:r>
            <a:br/>
            <a:r>
              <a:t>outperform flat state encoding under distribution shift?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Method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1. Reset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774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140 templates across</a:t>
            </a:r>
            <a:br/>
            <a:r>
              <a:t>train / ID-test / OOD splits</a:t>
            </a:r>
            <a:br/>
            <a:r>
              <a:t>(T/L/cross/bar/square/cylinder)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4592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2. MuJoCo Env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774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MujocoPushEnv with</a:t>
            </a:r>
            <a:br/>
            <a:r>
              <a:t>compound object geoms,</a:t>
            </a:r>
            <a:br/>
            <a:r>
              <a:t>obstacle instantiation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3. Oracle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23774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True dynamics rollout</a:t>
            </a:r>
            <a:br/>
            <a:r>
              <a:t>for CEM cost evaluation</a:t>
            </a:r>
            <a:br/>
            <a:r>
              <a:t>(state clone/restore)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4592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4. CEM-MPC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3774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Cross-Entropy Method</a:t>
            </a:r>
            <a:br/>
            <a:r>
              <a:t>planner with strict</a:t>
            </a:r>
            <a:br/>
            <a:r>
              <a:t>pose-stop criterion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645920"/>
            <a:ext cx="201168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Calibri"/>
              </a:defRPr>
            </a:pPr>
            <a:r>
              <a:t>5.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237744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Success rate, pos/θ error,</a:t>
            </a:r>
            <a:br/>
            <a:r>
              <a:t>OOD gap analysis</a:t>
            </a:r>
            <a:br/>
            <a:r>
              <a:t>across 3 encoder variants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Three Encoder Variants (Learned Dynamics Models)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6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Calibri"/>
              </a:defRPr>
            </a:pPr>
            <a:r>
              <a:t>FlatEncoder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Raw state vector → z</a:t>
            </a:r>
            <a:br/>
            <a:r>
              <a:t>(Baseline)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39496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ObjectCentricEncoder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852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Per-object slots → z</a:t>
            </a:r>
            <a:br/>
            <a:r>
              <a:t>(Structured representation)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5394960"/>
            <a:ext cx="3291840" cy="10972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440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Calibri"/>
              </a:defRPr>
            </a:pPr>
            <a:r>
              <a:t>CausalityAwareEncoder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8521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Causal graph masking → z</a:t>
            </a:r>
            <a:br/>
            <a:r>
              <a:t>(Intervention-aware)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Environment &amp; Task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Object Shapes (6 families)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• T-shape  (primary, 12mm thick)</a:t>
            </a:r>
            <a:br/>
            <a:r>
              <a:t>• L-shape  (OOD shape test)</a:t>
            </a:r>
            <a:br/>
            <a:r>
              <a:t>• Cross, Bar, Square, Cylinder</a:t>
            </a:r>
            <a:br/>
            <a:br/>
            <a:r>
              <a:t>Compound MuJoCo geoms via ObjectShapeFactory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Layout Families (OOD)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• Open space  (no obstacles)</a:t>
            </a:r>
            <a:br/>
            <a:r>
              <a:t>• Blocking  (easy / medium / hard)</a:t>
            </a:r>
            <a:br/>
            <a:r>
              <a:t>• Passage  (wide 9cm / medium 7cm / hard 5cm)</a:t>
            </a:r>
            <a:br/>
            <a:r>
              <a:t>• Edge goal</a:t>
            </a:r>
            <a:br/>
            <a:br/>
            <a:r>
              <a:t>Passage gap controls difficulty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Pusher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• Vertical cylinder (finger) geometry</a:t>
            </a:r>
            <a:br/>
            <a:r>
              <a:t>• Radius: 10mm, Height: 28mm</a:t>
            </a:r>
            <a:br/>
            <a:r>
              <a:t>• Fixed z-axis pushing (planar task)</a:t>
            </a:r>
            <a:br/>
            <a:r>
              <a:t>• Validated: sphere pusher was unstable</a:t>
            </a:r>
            <a:br/>
            <a:r>
              <a:t>  for lateral contact on thin objects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Success Criterion (Strict Pose Stop)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• Position error  ≤ 1.5 mm</a:t>
            </a:r>
            <a:br/>
            <a:r>
              <a:t>• Orientation error  ≤ 3.0°</a:t>
            </a:r>
            <a:br/>
            <a:r>
              <a:t>• BOTH must be met simultaneously</a:t>
            </a:r>
            <a:br/>
            <a:r>
              <a:t>• No legacy 5cm early-stop shortcut</a:t>
            </a:r>
            <a:br/>
            <a:r>
              <a:t>• Budget: 600 or 800 total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Oracle-MPC Capacity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  <a:latin typeface="Calibri"/>
              </a:defRPr>
            </a:pPr>
            <a:r>
              <a:t>Phase 1: Can the planner solve the task with true dynamics? (No learned model yet)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  <a:latin typeface="Calibri"/>
              </a:defRPr>
            </a:pPr>
            <a:r>
              <a:t>✅ Open Space (train_sim_id)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c23_precise:  mean pos = 2.70mm,  θ = ~3°</a:t>
            </a:r>
            <a:br/>
            <a:r>
              <a:t>              success_pos_1cm = 100%</a:t>
            </a:r>
            <a:br/>
            <a:br/>
            <a:r>
              <a:t>c25_fast:     mean pos = 2.38mm</a:t>
            </a:r>
            <a:br/>
            <a:r>
              <a:t>              success_0.5cm_5° = 100%</a:t>
            </a:r>
            <a:br/>
            <a:br/>
            <a:r>
              <a:t>→ mm-level precision confirmed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⚠️ Obstacle Layouts (sixpack sweep)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passage_wide (9cm gap):   ✅ both budgets</a:t>
            </a:r>
            <a:br/>
            <a:r>
              <a:t>passage_medium (7cm):     ✅ strict800 only</a:t>
            </a:r>
            <a:br/>
            <a:r>
              <a:t>passage_hard (5cm):       ❌ failed (~190mm)</a:t>
            </a:r>
            <a:br/>
            <a:r>
              <a:t>blocking (easy/med/hard): ❌ all failed</a:t>
            </a:r>
            <a:br/>
            <a:r>
              <a:t>  (170–230mm final error)</a:t>
            </a:r>
            <a:br/>
            <a:br/>
            <a:r>
              <a:t>strict800 SPSR: 33%  |  strict600 SPSR: 17%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105156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Calibri"/>
              </a:defRPr>
            </a:pPr>
            <a:r>
              <a:t>• Oracle-MPC achieves sub-2mm precision in open space — task is solvable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Calibri"/>
              </a:defRPr>
            </a:pPr>
            <a:r>
              <a:t>• Blocking layouts remain unsolved — obstacles block direct pushing paths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Calibri"/>
              </a:defRPr>
            </a:pPr>
            <a:r>
              <a:t>• Passage difficulty scales with gap width: 9cm &gt; 7cm &gt; 5cm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Calibri"/>
              </a:defRPr>
            </a:pPr>
            <a:r>
              <a:t>• More MPC budget (strict800 vs 600) helps borderline cases (passage_medium)</a:t>
            </a:r>
          </a:p>
          <a:p>
            <a:pPr>
              <a:spcAft>
                <a:spcPts val="800"/>
              </a:spcAft>
              <a:defRPr sz="1400">
                <a:solidFill>
                  <a:srgbClr val="BBBBCC"/>
                </a:solidFill>
                <a:latin typeface="Calibri"/>
              </a:defRPr>
            </a:pPr>
            <a:r>
              <a:t>• 5cm early-stop was masking true capability — strict pose stop is the correct metric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Validation Pipeline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  <a:latin typeface="Calibri"/>
              </a:defRPr>
            </a:pPr>
            <a:r>
              <a:t>✅ Completed (23 files PASS)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MuJoCo env scaffold (reset/step/clone/restore)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ObjectShapeFactory (6 shape families)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Oracle rollout + cost function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CEM-MPC optimizer interface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State sanity checks (140/140 templates)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Toy oracle-MPC (20/20)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MuJoCo oracle-MPC interface (5/5)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Reset template generation + schema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State normalizer interface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Three encoder variants (forward/backward)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RIGWorldModel unified interface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Strict pose-stop code 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371600"/>
            <a:ext cx="5303520" cy="50292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⚠️ In Progress / Blocked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Obstacle instantiation in MuJoCo ← #1 blocker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Strict pose-stop smoke test (code ready)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Success metric variable bug fix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Layout OOD capacity with real obstacles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Calibri"/>
              </a:defRPr>
            </a:pPr>
            <a:r>
              <a:t>Shape OOD capacity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822960" cy="320040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Phase 1: Oracle-MPC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Open-space mm-precision ✅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Obstacle gate (blocking + passage)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Strict pose-stop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65176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63040"/>
            <a:ext cx="822960" cy="320040"/>
          </a:xfrm>
          <a:prstGeom prst="round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447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BBCC"/>
                </a:solidFill>
                <a:latin typeface="Calibri"/>
              </a:defRPr>
            </a:pPr>
            <a:r>
              <a:t>Phase 2: Data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688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Collect sim data with Oracle-MPC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State normalizer fit on train only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Validate no split leakage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65176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LATER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822960" cy="320040"/>
          </a:xfrm>
          <a:prstGeom prst="roundRect">
            <a:avLst/>
          </a:prstGeom>
          <a:solidFill>
            <a:srgbClr val="BB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4447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BBCC"/>
                </a:solidFill>
                <a:latin typeface="Calibri"/>
              </a:defRPr>
            </a:pPr>
            <a:r>
              <a:t>Phase 3: Model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688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Train 3 encoder variants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Same data, same hyperparams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Flat vs ObjCentric vs Causal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371600"/>
            <a:ext cx="2651760" cy="3657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463040"/>
            <a:ext cx="822960" cy="320040"/>
          </a:xfrm>
          <a:prstGeom prst="roundRect">
            <a:avLst/>
          </a:prstGeom>
          <a:solidFill>
            <a:srgbClr val="BBB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4447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920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BBCC"/>
                </a:solidFill>
                <a:latin typeface="Calibri"/>
              </a:defRPr>
            </a:pPr>
            <a:r>
              <a:t>Phase 4: OOD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688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Learned model + CEM-MPC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ID test → Layout OOD → Shape OOD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Quantify representation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Sprint history:  Apr 20 (skeleton) → May 6 (MuJoCo env) → May 8 (oracle-MPC) → May 11-12 (sweeps + strict stop) → May 13 (obstacle sweeps)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Tech Stack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MuJoCo physics engine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Compound geom objects (T/L/cross/...)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Custom MujocoPushEnv wrapper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State clone/restore for MPC rollouts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CEM-MPC (Cross-Entropy Method)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1024 samples, 96 elites, 5 iterations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Horizon: 80 steps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Strict pose-stop criterion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PyTorch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3 encoder variants (Flat/ObjCentric/Causal)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DynamicsHead + SubgoalHead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RIGWorldModel unified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37160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Python + conda (lerobot env)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28-core parallel CEM evaluation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Modular scripts (debug/sweep/render)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Calibri"/>
              </a:defRPr>
            </a:pPr>
            <a:r>
              <a:t>Git-versioned experiment configs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105156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Calibri"/>
              </a:defRPr>
            </a:pPr>
            <a:r>
              <a:t>Codebase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src/  (envs, planners, models, metrics, data, interventions, utils)  ·  scripts/  (debug, sweep, render, eval)  ·  configs/  (planner, train, eval, splits)  ·  data/  (reset templates, metadata)  ·  runs/  (sweep results, videos, logs)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926080"/>
            <a:ext cx="12191695" cy="54864"/>
          </a:xfrm>
          <a:prstGeom prst="round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Next milestone: Obstacle gate → Data collection → Model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